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-731520"/>
            <a:ext cx="50292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0" dirty="0">
                <a:solidFill>
                  <a:srgbClr val="B8134A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CORNER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2743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2B4C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STRATEGY — INDIA —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2B4C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6858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7600" dirty="0">
                <a:solidFill>
                  <a:srgbClr val="F2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BONKERS:</a:t>
            </a:r>
            <a:endParaRPr lang="en-US" sz="7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</a:t>
            </a:r>
            <a:endParaRPr lang="en-US" sz="76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76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AGAIN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411480" y="37673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2B4C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cultural platform that gives India's burnout generation permission to play.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42611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B4C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nostalgia campaign. Not a product drop. A movement.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4828032"/>
            <a:ext cx="1572768" cy="201168"/>
          </a:xfrm>
          <a:prstGeom prst="roundRect">
            <a:avLst>
              <a:gd name="adj" fmla="val 9091"/>
            </a:avLst>
          </a:prstGeom>
          <a:solidFill>
            <a:srgbClr val="B8134A">
              <a:alpha val="20000"/>
            </a:srgbClr>
          </a:solidFill>
          <a:ln w="6350">
            <a:solidFill>
              <a:srgbClr val="B8134A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280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Context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30552" y="4828032"/>
            <a:ext cx="1572768" cy="201168"/>
          </a:xfrm>
          <a:prstGeom prst="roundRect">
            <a:avLst>
              <a:gd name="adj" fmla="val 9091"/>
            </a:avLst>
          </a:prstGeom>
          <a:solidFill>
            <a:srgbClr val="B8134A">
              <a:alpha val="20000"/>
            </a:srgbClr>
          </a:solidFill>
          <a:ln w="6350">
            <a:solidFill>
              <a:srgbClr val="B8134A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48280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Brief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849624" y="4828032"/>
            <a:ext cx="1572768" cy="201168"/>
          </a:xfrm>
          <a:prstGeom prst="roundRect">
            <a:avLst>
              <a:gd name="adj" fmla="val 9091"/>
            </a:avLst>
          </a:prstGeom>
          <a:solidFill>
            <a:srgbClr val="B8134A">
              <a:alpha val="20000"/>
            </a:srgbClr>
          </a:solidFill>
          <a:ln w="6350">
            <a:solidFill>
              <a:srgbClr val="B8134A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48280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Manifesto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568696" y="4828032"/>
            <a:ext cx="1572768" cy="201168"/>
          </a:xfrm>
          <a:prstGeom prst="roundRect">
            <a:avLst>
              <a:gd name="adj" fmla="val 9091"/>
            </a:avLst>
          </a:prstGeom>
          <a:solidFill>
            <a:srgbClr val="B8134A">
              <a:alpha val="20000"/>
            </a:srgbClr>
          </a:solidFill>
          <a:ln w="6350">
            <a:solidFill>
              <a:srgbClr val="B8134A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68696" y="48280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Ecosystem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287768" y="4828032"/>
            <a:ext cx="1572768" cy="201168"/>
          </a:xfrm>
          <a:prstGeom prst="roundRect">
            <a:avLst>
              <a:gd name="adj" fmla="val 9091"/>
            </a:avLst>
          </a:prstGeom>
          <a:solidFill>
            <a:srgbClr val="B8134A">
              <a:alpha val="20000"/>
            </a:srgbClr>
          </a:solidFill>
          <a:ln w="6350">
            <a:solidFill>
              <a:srgbClr val="B8134A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87768" y="48280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+ KPIs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6032" y="182880"/>
            <a:ext cx="8631936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4937760"/>
            <a:ext cx="8631936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182880"/>
            <a:ext cx="0" cy="475488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87968" y="182880"/>
            <a:ext cx="0" cy="475488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— PLAY AGAIN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577840" y="182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  ·  RESEARCH + CONTEXT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438912"/>
            <a:ext cx="8321040" cy="0"/>
          </a:xfrm>
          <a:prstGeom prst="line">
            <a:avLst/>
          </a:prstGeom>
          <a:noFill/>
          <a:ln w="6350">
            <a:solidFill>
              <a:srgbClr val="B8134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120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 CONTEXT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generation that grew</a:t>
            </a:r>
            <a:endParaRPr lang="en-US" sz="2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fast — and knows it.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4114800" cy="530352"/>
          </a:xfrm>
          <a:prstGeom prst="rect">
            <a:avLst/>
          </a:prstGeom>
          <a:solidFill>
            <a:srgbClr val="B8134A">
              <a:alpha val="92000"/>
            </a:srgbClr>
          </a:solidFill>
          <a:ln w="10160">
            <a:solidFill>
              <a:srgbClr val="B81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miss being children. We miss having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to play.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1920240" cy="0"/>
          </a:xfrm>
          <a:prstGeom prst="line">
            <a:avLst/>
          </a:prstGeom>
          <a:noFill/>
          <a:ln w="10160">
            <a:solidFill>
              <a:srgbClr val="B8134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5915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IN INDIA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11480" y="2980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largest youth cohort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60320" y="2304288"/>
            <a:ext cx="1920240" cy="0"/>
          </a:xfrm>
          <a:prstGeom prst="line">
            <a:avLst/>
          </a:prstGeom>
          <a:noFill/>
          <a:ln w="10160">
            <a:solidFill>
              <a:srgbClr val="B8134A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35915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60320" y="28346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BURNOUT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560320" y="29809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— BCG 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355848"/>
            <a:ext cx="1920240" cy="0"/>
          </a:xfrm>
          <a:prstGeom prst="line">
            <a:avLst/>
          </a:prstGeom>
          <a:noFill/>
          <a:ln w="10160">
            <a:solidFill>
              <a:srgbClr val="7B5EA7">
                <a:alpha val="7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4107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726%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KIDULT YOY GROWTH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11480" y="4032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Mart — adult play is real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0" y="3355848"/>
            <a:ext cx="1920240" cy="0"/>
          </a:xfrm>
          <a:prstGeom prst="line">
            <a:avLst/>
          </a:prstGeom>
          <a:noFill/>
          <a:ln w="10160">
            <a:solidFill>
              <a:srgbClr val="7B5EA7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4107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$20B+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2560320" y="38862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STREETWEAR BY 2033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560320" y="40325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7.58% CAGR — Inc42,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44805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generation grew up on Cartoon Network and craft periods — then got handed hustle culture at 22. PLAY AGAIN closes the gap between who they perform online and who they actually feel inside.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5120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NOSTALGIA MOODBOARD — THE FEELING WE ARE EVOKING</a:t>
            </a:r>
            <a:endParaRPr lang="en-US" sz="7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749808"/>
            <a:ext cx="4005072" cy="38404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754880" y="46268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Crayons  ·  Fairy wings  ·  Princess DVDs  ·  Barbie cameras  ·  Tea sets  ·  Happy meals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B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— PLAY AGAIN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0" y="182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  ·  STRATEGY + MANIFESTO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438912"/>
            <a:ext cx="8321040" cy="0"/>
          </a:xfrm>
          <a:prstGeom prst="line">
            <a:avLst/>
          </a:prstGeom>
          <a:noFill/>
          <a:ln w="6350">
            <a:solidFill>
              <a:srgbClr val="B8134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FIELD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70408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Bonkers already owns the space.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AGAIN scales it.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1664208"/>
            <a:ext cx="4114800" cy="0"/>
          </a:xfrm>
          <a:prstGeom prst="line">
            <a:avLst/>
          </a:prstGeom>
          <a:noFill/>
          <a:ln w="5080">
            <a:solidFill>
              <a:srgbClr val="B8134A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00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Souled Store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0078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fandom — product-led only, no experience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67128"/>
            <a:ext cx="4114800" cy="0"/>
          </a:xfrm>
          <a:prstGeom prst="line">
            <a:avLst/>
          </a:prstGeom>
          <a:noFill/>
          <a:ln w="5080">
            <a:solidFill>
              <a:srgbClr val="B8134A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03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Bewakoof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2037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+ casual — shallow nostalgia, no cultural depth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4114800" cy="0"/>
          </a:xfrm>
          <a:prstGeom prst="line">
            <a:avLst/>
          </a:prstGeom>
          <a:noFill/>
          <a:ln w="5080">
            <a:solidFill>
              <a:srgbClr val="B8134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066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Snitch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70662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Fashion-forward D2C — aspirational, zero joy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4114800" cy="438912"/>
          </a:xfrm>
          <a:prstGeom prst="rect">
            <a:avLst/>
          </a:prstGeom>
          <a:solidFill>
            <a:srgbClr val="B8134A">
              <a:alpha val="92000"/>
            </a:srgbClr>
          </a:solidFill>
          <a:ln w="7620">
            <a:solidFill>
              <a:srgbClr val="B81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095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Bonkers 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2095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0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HK, Bratz, Kuromi, Sanrio — fashion AND play, at scale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30752"/>
            <a:ext cx="4114800" cy="0"/>
          </a:xfrm>
          <a:prstGeom prst="line">
            <a:avLst/>
          </a:prstGeom>
          <a:noFill/>
          <a:ln w="10160">
            <a:solidFill>
              <a:srgbClr val="B8134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8561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REWARDS BEING: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unapologetically original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up space without apology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05740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Colourful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5740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be muted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88036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Obsessed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88036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loving fictional characters seriously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03320" y="399592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lightness as intelligence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800600" y="502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ECOSYSTEM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800600" y="704088"/>
            <a:ext cx="3931920" cy="0"/>
          </a:xfrm>
          <a:prstGeom prst="line">
            <a:avLst/>
          </a:prstGeom>
          <a:noFill/>
          <a:ln w="6350">
            <a:solidFill>
              <a:srgbClr val="B8134A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740664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134A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257800" y="74066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257800" y="886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57800" y="11064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teaser — no brand reveal. 'What made you happy at 8?' Micro-creators. No product.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1591056"/>
            <a:ext cx="3931920" cy="0"/>
          </a:xfrm>
          <a:prstGeom prst="line">
            <a:avLst/>
          </a:prstGeom>
          <a:noFill/>
          <a:ln w="6350">
            <a:solidFill>
              <a:srgbClr val="B8134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1627632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134A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5257800" y="162763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257800" y="1773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Personality Quiz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199339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web quiz. 6 play personalities. Shareable result cards. Outfit curation.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2478024"/>
            <a:ext cx="3931920" cy="0"/>
          </a:xfrm>
          <a:prstGeom prst="line">
            <a:avLst/>
          </a:prstGeom>
          <a:noFill/>
          <a:ln w="6350">
            <a:solidFill>
              <a:srgbClr val="B8134A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5146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134A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5257800" y="2514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3–5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57800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Playground for Grown-Ups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257800" y="28803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Pop-ups: Mumbai, Bengaluru, Delhi, Hyderabad. Crayon walls, bracelet bars, plush stations, CN throwback corner. Free entry.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00600" y="3364992"/>
            <a:ext cx="3931920" cy="0"/>
          </a:xfrm>
          <a:prstGeom prst="line">
            <a:avLst/>
          </a:prstGeom>
          <a:noFill/>
          <a:ln w="6350">
            <a:solidFill>
              <a:srgbClr val="B8134A">
                <a:alpha val="4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40156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134A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5257800" y="340156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257800" y="35478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Bonkers Buddies Drops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57800" y="376732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character drops — mini plush + nostalgia card + charm. Tied to collab IP. No restocks.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4251960"/>
            <a:ext cx="3931920" cy="0"/>
          </a:xfrm>
          <a:prstGeom prst="line">
            <a:avLst/>
          </a:prstGeom>
          <a:noFill/>
          <a:ln w="6350">
            <a:solidFill>
              <a:srgbClr val="B8134A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428853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B8134A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5257800" y="4288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57800" y="44348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0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 Tribe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257800" y="46542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Play Nights. Physical Play Passport. Birthday Recess Pass. Year-end exclusive drop.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502920"/>
            <a:ext cx="0" cy="4480560"/>
          </a:xfrm>
          <a:prstGeom prst="line">
            <a:avLst/>
          </a:prstGeom>
          <a:noFill/>
          <a:ln w="6350">
            <a:solidFill>
              <a:srgbClr val="B8134A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— PLAY AGAIN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0" y="182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F2B4CC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  ·  KPIs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438912"/>
            <a:ext cx="8321040" cy="0"/>
          </a:xfrm>
          <a:prstGeom prst="line">
            <a:avLst/>
          </a:prstGeom>
          <a:noFill/>
          <a:ln w="6350">
            <a:solidFill>
              <a:srgbClr val="B8134A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1206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BONKERS ALREADY DOES THIS — EXISTING COLLABS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749808"/>
            <a:ext cx="4114800" cy="2468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25526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2B4C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Kitty 50th Anniversary  ·  Bratz India Launch  ·  Kuromi  ·  Sanrio Scratch Cards  ·  Pop-Up Activations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11480" y="3520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 doesn't pivot Bonkers — it platforms what already works. No competitor has this collab history, this activation DNA, or this brand permission.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1480" y="4069080"/>
            <a:ext cx="4114800" cy="0"/>
          </a:xfrm>
          <a:prstGeom prst="line">
            <a:avLst/>
          </a:prstGeom>
          <a:noFill/>
          <a:ln w="7620">
            <a:solidFill>
              <a:srgbClr val="B8134A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114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B4CC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brands sell identity.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B4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Bonkers sells joy.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up is mandatory. Playing isn't.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438912"/>
            <a:ext cx="0" cy="4572000"/>
          </a:xfrm>
          <a:prstGeom prst="line">
            <a:avLst/>
          </a:prstGeom>
          <a:noFill/>
          <a:ln w="6350">
            <a:solidFill>
              <a:srgbClr val="B8134A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5120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F2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983480" y="777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81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KPIs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83480" y="1005840"/>
            <a:ext cx="3749040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106070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per Instagram post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10607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5%+ rate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83480" y="1481328"/>
            <a:ext cx="3749040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Comment-to-like ratio on prompts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589520" y="15361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1:8 or better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83480" y="1956816"/>
            <a:ext cx="3749040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20116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Play Night attendees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20116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83480" y="2432304"/>
            <a:ext cx="3749040" cy="0"/>
          </a:xfrm>
          <a:prstGeom prst="line">
            <a:avLst/>
          </a:prstGeom>
          <a:noFill/>
          <a:ln w="5080">
            <a:solidFill>
              <a:srgbClr val="B8134A">
                <a:alpha val="3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24871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Unprompted brand mentions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89520" y="248716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1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monthly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83480" y="2944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4A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983480" y="3172968"/>
            <a:ext cx="3749040" cy="0"/>
          </a:xfrm>
          <a:prstGeom prst="line">
            <a:avLst/>
          </a:prstGeom>
          <a:noFill/>
          <a:ln w="5080">
            <a:solidFill>
              <a:srgbClr val="C4AADF">
                <a:alpha val="3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3227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Playground footfall per city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89520" y="32278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AA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83480" y="3648456"/>
            <a:ext cx="3749040" cy="0"/>
          </a:xfrm>
          <a:prstGeom prst="line">
            <a:avLst/>
          </a:prstGeom>
          <a:noFill/>
          <a:ln w="5080">
            <a:solidFill>
              <a:srgbClr val="C4AADF">
                <a:alpha val="3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8348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drop sell-through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589520" y="37033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AA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/ 48h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983480" y="4123944"/>
            <a:ext cx="3749040" cy="0"/>
          </a:xfrm>
          <a:prstGeom prst="line">
            <a:avLst/>
          </a:prstGeom>
          <a:noFill/>
          <a:ln w="5080">
            <a:solidFill>
              <a:srgbClr val="C4AADF">
                <a:alpha val="3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83480" y="41788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completions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589520" y="4178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AA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 / 3mo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983480" y="4599432"/>
            <a:ext cx="3749040" cy="0"/>
          </a:xfrm>
          <a:prstGeom prst="line">
            <a:avLst/>
          </a:prstGeom>
          <a:noFill/>
          <a:ln w="5080">
            <a:solidFill>
              <a:srgbClr val="C4AADF">
                <a:alpha val="35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83480" y="4654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B4CC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follower acq. during campaign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589520" y="465429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4AA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 baseline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BONKERS: PLAY AGAIN — Campaign Strategy</dc:title>
  <dc:subject>PptxGenJS Presentation</dc:subject>
  <dc:creator>Niah</dc:creator>
  <cp:lastModifiedBy>Niah</cp:lastModifiedBy>
  <cp:revision>1</cp:revision>
  <dcterms:created xsi:type="dcterms:W3CDTF">2026-06-09T15:26:27Z</dcterms:created>
  <dcterms:modified xsi:type="dcterms:W3CDTF">2026-06-09T15:26:27Z</dcterms:modified>
</cp:coreProperties>
</file>